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8" r:id="rId3"/>
    <p:sldId id="317" r:id="rId4"/>
    <p:sldId id="257" r:id="rId5"/>
    <p:sldId id="302" r:id="rId6"/>
    <p:sldId id="262" r:id="rId7"/>
    <p:sldId id="263" r:id="rId8"/>
    <p:sldId id="311"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g/+TVKR+f9jJJoQN4cfIgh+pK+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02103F-C5DC-49B8-87E6-AC3A85773A70}">
  <a:tblStyle styleId="{6502103F-C5DC-49B8-87E6-AC3A85773A7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91" autoAdjust="0"/>
    <p:restoredTop sz="94660"/>
  </p:normalViewPr>
  <p:slideViewPr>
    <p:cSldViewPr snapToGrid="0">
      <p:cViewPr varScale="1">
        <p:scale>
          <a:sx n="78" d="100"/>
          <a:sy n="78" d="100"/>
        </p:scale>
        <p:origin x="80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46"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49"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4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61" name="Google Shape;6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 name="Google Shape;6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61727380-8878-75FA-06AC-9590999CEBCF}"/>
            </a:ext>
          </a:extLst>
        </p:cNvPr>
        <p:cNvGrpSpPr/>
        <p:nvPr/>
      </p:nvGrpSpPr>
      <p:grpSpPr>
        <a:xfrm>
          <a:off x="0" y="0"/>
          <a:ext cx="0" cy="0"/>
          <a:chOff x="0" y="0"/>
          <a:chExt cx="0" cy="0"/>
        </a:xfrm>
      </p:grpSpPr>
      <p:sp>
        <p:nvSpPr>
          <p:cNvPr id="77" name="Google Shape;77;p3:notes">
            <a:extLst>
              <a:ext uri="{FF2B5EF4-FFF2-40B4-BE49-F238E27FC236}">
                <a16:creationId xmlns:a16="http://schemas.microsoft.com/office/drawing/2014/main" id="{D842F097-5AE2-B311-2EBB-952061130A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8" name="Google Shape;78;p3:notes">
            <a:extLst>
              <a:ext uri="{FF2B5EF4-FFF2-40B4-BE49-F238E27FC236}">
                <a16:creationId xmlns:a16="http://schemas.microsoft.com/office/drawing/2014/main" id="{67185A9C-9FEE-0DB7-91B9-8E23F7CD2A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9420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9DE7C2D8-507D-7DDD-078B-1B1F5CCF0EDE}"/>
            </a:ext>
          </a:extLst>
        </p:cNvPr>
        <p:cNvGrpSpPr/>
        <p:nvPr/>
      </p:nvGrpSpPr>
      <p:grpSpPr>
        <a:xfrm>
          <a:off x="0" y="0"/>
          <a:ext cx="0" cy="0"/>
          <a:chOff x="0" y="0"/>
          <a:chExt cx="0" cy="0"/>
        </a:xfrm>
      </p:grpSpPr>
      <p:sp>
        <p:nvSpPr>
          <p:cNvPr id="77" name="Google Shape;77;p3:notes">
            <a:extLst>
              <a:ext uri="{FF2B5EF4-FFF2-40B4-BE49-F238E27FC236}">
                <a16:creationId xmlns:a16="http://schemas.microsoft.com/office/drawing/2014/main" id="{0654FB8E-7B67-605F-67D4-D31BDC37F4A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3:notes">
            <a:extLst>
              <a:ext uri="{FF2B5EF4-FFF2-40B4-BE49-F238E27FC236}">
                <a16:creationId xmlns:a16="http://schemas.microsoft.com/office/drawing/2014/main" id="{1F96E1B2-9B60-4892-AE44-08F29ABA14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3734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2044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4512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0BF5FCD1-E634-852B-5114-179A1C408367}"/>
            </a:ext>
          </a:extLst>
        </p:cNvPr>
        <p:cNvGrpSpPr/>
        <p:nvPr/>
      </p:nvGrpSpPr>
      <p:grpSpPr>
        <a:xfrm>
          <a:off x="0" y="0"/>
          <a:ext cx="0" cy="0"/>
          <a:chOff x="0" y="0"/>
          <a:chExt cx="0" cy="0"/>
        </a:xfrm>
      </p:grpSpPr>
      <p:sp>
        <p:nvSpPr>
          <p:cNvPr id="70" name="Google Shape;70;p2:notes">
            <a:extLst>
              <a:ext uri="{FF2B5EF4-FFF2-40B4-BE49-F238E27FC236}">
                <a16:creationId xmlns:a16="http://schemas.microsoft.com/office/drawing/2014/main" id="{042C1092-C9A9-210A-C105-A645AF5D68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2:notes">
            <a:extLst>
              <a:ext uri="{FF2B5EF4-FFF2-40B4-BE49-F238E27FC236}">
                <a16:creationId xmlns:a16="http://schemas.microsoft.com/office/drawing/2014/main" id="{B41FDEBA-9A42-E183-8D46-6416D44676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97742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pic>
        <p:nvPicPr>
          <p:cNvPr id="16" name="Google Shape;16;p7" descr="http://www.westmidlandlitho.co.uk/files/banner_background.jpg"/>
          <p:cNvPicPr preferRelativeResize="0"/>
          <p:nvPr/>
        </p:nvPicPr>
        <p:blipFill rotWithShape="1">
          <a:blip r:embed="rId2">
            <a:alphaModFix/>
          </a:blip>
          <a:srcRect/>
          <a:stretch/>
        </p:blipFill>
        <p:spPr>
          <a:xfrm flipH="1">
            <a:off x="0" y="5368499"/>
            <a:ext cx="12192000" cy="1489501"/>
          </a:xfrm>
          <a:prstGeom prst="rect">
            <a:avLst/>
          </a:prstGeom>
          <a:noFill/>
          <a:ln>
            <a:noFill/>
          </a:ln>
        </p:spPr>
      </p:pic>
      <p:sp>
        <p:nvSpPr>
          <p:cNvPr id="17" name="Google Shape;17;p7"/>
          <p:cNvSpPr txBox="1">
            <a:spLocks noGrp="1"/>
          </p:cNvSpPr>
          <p:nvPr>
            <p:ph type="body" idx="1"/>
          </p:nvPr>
        </p:nvSpPr>
        <p:spPr>
          <a:xfrm>
            <a:off x="457200" y="1295401"/>
            <a:ext cx="11353800" cy="5181600"/>
          </a:xfrm>
          <a:prstGeom prst="rect">
            <a:avLst/>
          </a:prstGeom>
          <a:noFill/>
          <a:ln>
            <a:noFill/>
          </a:ln>
        </p:spPr>
        <p:txBody>
          <a:bodyPr spcFirstLastPara="1" wrap="square" lIns="91425" tIns="45700" rIns="91425" bIns="45700" anchor="t" anchorCtr="0">
            <a:normAutofit/>
          </a:bodyPr>
          <a:lstStyle>
            <a:lvl1pPr marL="457200" marR="0" lvl="0" indent="-228600" algn="just">
              <a:lnSpc>
                <a:spcPct val="120000"/>
              </a:lnSpc>
              <a:spcBef>
                <a:spcPts val="480"/>
              </a:spcBef>
              <a:spcAft>
                <a:spcPts val="0"/>
              </a:spcAft>
              <a:buClr>
                <a:srgbClr val="0000FF"/>
              </a:buClr>
              <a:buSzPts val="2400"/>
              <a:buFont typeface="Noto Sans Symbols"/>
              <a:buNone/>
              <a:defRPr sz="2400" b="0">
                <a:solidFill>
                  <a:srgbClr val="0000FF"/>
                </a:solidFill>
                <a:latin typeface="Times New Roman"/>
                <a:ea typeface="Times New Roman"/>
                <a:cs typeface="Times New Roman"/>
                <a:sym typeface="Times New Roman"/>
              </a:defRPr>
            </a:lvl1pPr>
            <a:lvl2pPr marL="914400" lvl="1" indent="-381000" algn="just">
              <a:spcBef>
                <a:spcPts val="1200"/>
              </a:spcBef>
              <a:spcAft>
                <a:spcPts val="0"/>
              </a:spcAft>
              <a:buClr>
                <a:schemeClr val="dk1"/>
              </a:buClr>
              <a:buSzPts val="2400"/>
              <a:buFont typeface="Noto Sans Symbols"/>
              <a:buChar char="⮚"/>
              <a:defRPr sz="2400">
                <a:latin typeface="Times New Roman"/>
                <a:ea typeface="Times New Roman"/>
                <a:cs typeface="Times New Roman"/>
                <a:sym typeface="Times New Roman"/>
              </a:defRPr>
            </a:lvl2pPr>
            <a:lvl3pPr marL="1371600" lvl="2" indent="-355600" algn="just">
              <a:spcBef>
                <a:spcPts val="1200"/>
              </a:spcBef>
              <a:spcAft>
                <a:spcPts val="0"/>
              </a:spcAft>
              <a:buClr>
                <a:schemeClr val="dk1"/>
              </a:buClr>
              <a:buSzPts val="2000"/>
              <a:buFont typeface="Noto Sans Symbols"/>
              <a:buChar char="✔"/>
              <a:defRPr sz="2000">
                <a:latin typeface="Times New Roman"/>
                <a:ea typeface="Times New Roman"/>
                <a:cs typeface="Times New Roman"/>
                <a:sym typeface="Times New Roman"/>
              </a:defRPr>
            </a:lvl3pPr>
            <a:lvl4pPr marL="1828800" lvl="3" indent="-342900" algn="just">
              <a:spcBef>
                <a:spcPts val="360"/>
              </a:spcBef>
              <a:spcAft>
                <a:spcPts val="0"/>
              </a:spcAft>
              <a:buClr>
                <a:schemeClr val="dk1"/>
              </a:buClr>
              <a:buSzPts val="1800"/>
              <a:buChar char="–"/>
              <a:defRPr sz="1800">
                <a:latin typeface="Times New Roman"/>
                <a:ea typeface="Times New Roman"/>
                <a:cs typeface="Times New Roman"/>
                <a:sym typeface="Times New Roman"/>
              </a:defRPr>
            </a:lvl4pPr>
            <a:lvl5pPr marL="2286000" lvl="4" indent="-342900" algn="just">
              <a:spcBef>
                <a:spcPts val="360"/>
              </a:spcBef>
              <a:spcAft>
                <a:spcPts val="0"/>
              </a:spcAft>
              <a:buClr>
                <a:schemeClr val="dk1"/>
              </a:buClr>
              <a:buSzPts val="1800"/>
              <a:buChar char="»"/>
              <a:defRPr sz="18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7"/>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p7"/>
          <p:cNvSpPr/>
          <p:nvPr/>
        </p:nvSpPr>
        <p:spPr>
          <a:xfrm>
            <a:off x="0" y="0"/>
            <a:ext cx="12192000" cy="1066800"/>
          </a:xfrm>
          <a:prstGeom prst="rect">
            <a:avLst/>
          </a:prstGeom>
          <a:gradFill>
            <a:gsLst>
              <a:gs pos="0">
                <a:srgbClr val="81D2FF"/>
              </a:gs>
              <a:gs pos="50000">
                <a:srgbClr val="B3E1FF"/>
              </a:gs>
              <a:gs pos="100000">
                <a:srgbClr val="DAEFFF"/>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7"/>
          <p:cNvSpPr txBox="1">
            <a:spLocks noGrp="1"/>
          </p:cNvSpPr>
          <p:nvPr>
            <p:ph type="title"/>
          </p:nvPr>
        </p:nvSpPr>
        <p:spPr>
          <a:xfrm>
            <a:off x="457200" y="136519"/>
            <a:ext cx="11277600" cy="85408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FF0000"/>
              </a:buClr>
              <a:buSzPts val="3200"/>
              <a:buFont typeface="Times New Roman"/>
              <a:buNone/>
              <a:defRPr sz="3200" b="1">
                <a:solidFill>
                  <a:srgbClr val="FF000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7"/>
        <p:cNvGrpSpPr/>
        <p:nvPr/>
      </p:nvGrpSpPr>
      <p:grpSpPr>
        <a:xfrm>
          <a:off x="0" y="0"/>
          <a:ext cx="0" cy="0"/>
          <a:chOff x="0" y="0"/>
          <a:chExt cx="0" cy="0"/>
        </a:xfrm>
      </p:grpSpPr>
      <p:sp>
        <p:nvSpPr>
          <p:cNvPr id="28" name="Google Shape;28;p9"/>
          <p:cNvSpPr/>
          <p:nvPr/>
        </p:nvSpPr>
        <p:spPr>
          <a:xfrm>
            <a:off x="2931" y="0"/>
            <a:ext cx="12192000" cy="1066800"/>
          </a:xfrm>
          <a:prstGeom prst="rect">
            <a:avLst/>
          </a:prstGeom>
          <a:gradFill>
            <a:gsLst>
              <a:gs pos="0">
                <a:srgbClr val="81D2FF"/>
              </a:gs>
              <a:gs pos="50000">
                <a:srgbClr val="B3E1FF"/>
              </a:gs>
              <a:gs pos="100000">
                <a:srgbClr val="DAEFFF"/>
              </a:gs>
            </a:gsLst>
            <a:path path="circle">
              <a:fillToRect t="100000" r="100000"/>
            </a:path>
            <a:tileRect l="-100000" b="-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9"/>
          <p:cNvSpPr txBox="1">
            <a:spLocks noGrp="1"/>
          </p:cNvSpPr>
          <p:nvPr>
            <p:ph type="ctrTitle"/>
          </p:nvPr>
        </p:nvSpPr>
        <p:spPr>
          <a:xfrm>
            <a:off x="1066800" y="163195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00FF"/>
              </a:buClr>
              <a:buSzPts val="4400"/>
              <a:buFont typeface="Calibri"/>
              <a:buNone/>
              <a:defRPr>
                <a:solidFill>
                  <a:srgbClr val="0000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9"/>
          <p:cNvSpPr txBox="1">
            <a:spLocks noGrp="1"/>
          </p:cNvSpPr>
          <p:nvPr>
            <p:ph type="subTitle" idx="1"/>
          </p:nvPr>
        </p:nvSpPr>
        <p:spPr>
          <a:xfrm>
            <a:off x="1981200" y="40386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chemeClr val="dk1"/>
              </a:buClr>
              <a:buSzPts val="3200"/>
              <a:buNone/>
              <a:defRPr>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pic>
        <p:nvPicPr>
          <p:cNvPr id="31" name="Google Shape;31;p9" descr="http://www.westmidlandlitho.co.uk/files/banner_background.jpg"/>
          <p:cNvPicPr preferRelativeResize="0"/>
          <p:nvPr/>
        </p:nvPicPr>
        <p:blipFill rotWithShape="1">
          <a:blip r:embed="rId2">
            <a:alphaModFix/>
          </a:blip>
          <a:srcRect/>
          <a:stretch/>
        </p:blipFill>
        <p:spPr>
          <a:xfrm flipH="1">
            <a:off x="0" y="5368499"/>
            <a:ext cx="12192000" cy="1489501"/>
          </a:xfrm>
          <a:prstGeom prst="rect">
            <a:avLst/>
          </a:prstGeom>
          <a:noFill/>
          <a:ln>
            <a:noFill/>
          </a:ln>
        </p:spPr>
      </p:pic>
      <p:sp>
        <p:nvSpPr>
          <p:cNvPr id="32" name="Google Shape;32;p9"/>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9"/>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9"/>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5"/>
        <p:cNvGrpSpPr/>
        <p:nvPr/>
      </p:nvGrpSpPr>
      <p:grpSpPr>
        <a:xfrm>
          <a:off x="0" y="0"/>
          <a:ext cx="0" cy="0"/>
          <a:chOff x="0" y="0"/>
          <a:chExt cx="0" cy="0"/>
        </a:xfrm>
      </p:grpSpPr>
      <p:sp>
        <p:nvSpPr>
          <p:cNvPr id="36" name="Google Shape;36;p10"/>
          <p:cNvSpPr txBox="1">
            <a:spLocks noGrp="1"/>
          </p:cNvSpPr>
          <p:nvPr>
            <p:ph type="ctrTitle"/>
          </p:nvPr>
        </p:nvSpPr>
        <p:spPr>
          <a:xfrm>
            <a:off x="914400" y="2130431"/>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0"/>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8" name="Google Shape;38;p10"/>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0"/>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11"/>
          <p:cNvSpPr txBox="1">
            <a:spLocks noGrp="1"/>
          </p:cNvSpPr>
          <p:nvPr>
            <p:ph type="title"/>
          </p:nvPr>
        </p:nvSpPr>
        <p:spPr>
          <a:xfrm>
            <a:off x="963084" y="4406905"/>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1"/>
          <p:cNvSpPr txBox="1">
            <a:spLocks noGrp="1"/>
          </p:cNvSpPr>
          <p:nvPr>
            <p:ph type="body" idx="1"/>
          </p:nvPr>
        </p:nvSpPr>
        <p:spPr>
          <a:xfrm>
            <a:off x="963084" y="2906719"/>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4" name="Google Shape;44;p11"/>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1"/>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609600" y="1600205"/>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0" name="Google Shape;50;p12"/>
          <p:cNvSpPr txBox="1">
            <a:spLocks noGrp="1"/>
          </p:cNvSpPr>
          <p:nvPr>
            <p:ph type="body" idx="2"/>
          </p:nvPr>
        </p:nvSpPr>
        <p:spPr>
          <a:xfrm>
            <a:off x="6197600" y="1600205"/>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1" name="Google Shape;51;p12"/>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3"/>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3"/>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609600" y="1600205"/>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609600" y="6356356"/>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165600" y="6356356"/>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
          <p:cNvSpPr/>
          <p:nvPr/>
        </p:nvSpPr>
        <p:spPr>
          <a:xfrm>
            <a:off x="381000" y="1294589"/>
            <a:ext cx="11506199"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dirty="0">
                <a:solidFill>
                  <a:srgbClr val="0000FF"/>
                </a:solidFill>
                <a:latin typeface="Times New Roman" panose="02020603050405020304" pitchFamily="18" charset="0"/>
                <a:ea typeface="Calibri"/>
                <a:cs typeface="Times New Roman" panose="02020603050405020304" pitchFamily="18" charset="0"/>
                <a:sym typeface="Calibri"/>
              </a:rPr>
              <a:t>BÁO CÁO MÔN HỌC </a:t>
            </a:r>
            <a:r>
              <a:rPr lang="vi-VN" sz="3600" b="1" dirty="0">
                <a:solidFill>
                  <a:srgbClr val="0000FF"/>
                </a:solidFill>
                <a:latin typeface="Times New Roman" panose="02020603050405020304" pitchFamily="18" charset="0"/>
                <a:ea typeface="Calibri"/>
                <a:cs typeface="Times New Roman" panose="02020603050405020304" pitchFamily="18" charset="0"/>
                <a:sym typeface="Calibri"/>
              </a:rPr>
              <a:t>PHÁT TRIỂN ỨNG DỤNG ĐA NỀN TẢNG</a:t>
            </a:r>
            <a:endParaRPr sz="3600" b="1" i="0" u="none" strike="noStrike" cap="none" dirty="0">
              <a:solidFill>
                <a:srgbClr val="0000FF"/>
              </a:solidFill>
              <a:latin typeface="Times New Roman" panose="02020603050405020304" pitchFamily="18" charset="0"/>
              <a:ea typeface="Calibri"/>
              <a:cs typeface="Times New Roman" panose="02020603050405020304" pitchFamily="18" charset="0"/>
              <a:sym typeface="Calibri"/>
            </a:endParaRPr>
          </a:p>
        </p:txBody>
      </p:sp>
      <p:sp>
        <p:nvSpPr>
          <p:cNvPr id="65" name="Google Shape;65;p1"/>
          <p:cNvSpPr/>
          <p:nvPr/>
        </p:nvSpPr>
        <p:spPr>
          <a:xfrm>
            <a:off x="381000" y="68658"/>
            <a:ext cx="112014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rgbClr val="0000FF"/>
                </a:solidFill>
                <a:latin typeface="Times New Roman"/>
                <a:ea typeface="Times New Roman"/>
                <a:cs typeface="Times New Roman"/>
                <a:sym typeface="Times New Roman"/>
              </a:rPr>
              <a:t>TRƯỜNG ĐẠI HỌC THỦ DẦU MỘT</a:t>
            </a:r>
            <a:endParaRPr dirty="0"/>
          </a:p>
          <a:p>
            <a:pPr marL="0" marR="0" lvl="0" indent="0" algn="ctr" rtl="0">
              <a:spcBef>
                <a:spcPts val="0"/>
              </a:spcBef>
              <a:spcAft>
                <a:spcPts val="0"/>
              </a:spcAft>
              <a:buNone/>
            </a:pPr>
            <a:r>
              <a:rPr lang="en-US" sz="2400" b="1" i="0" u="none" strike="noStrike" cap="none" dirty="0">
                <a:solidFill>
                  <a:srgbClr val="0000FF"/>
                </a:solidFill>
                <a:latin typeface="Times New Roman"/>
                <a:ea typeface="Times New Roman"/>
                <a:cs typeface="Times New Roman"/>
                <a:sym typeface="Times New Roman"/>
              </a:rPr>
              <a:t>--------------- 🙢🕮🙠 ---------------</a:t>
            </a:r>
            <a:endParaRPr dirty="0"/>
          </a:p>
        </p:txBody>
      </p:sp>
      <p:sp>
        <p:nvSpPr>
          <p:cNvPr id="66" name="Google Shape;66;p1"/>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lt2"/>
                </a:solidFill>
                <a:latin typeface="Arial"/>
                <a:ea typeface="Arial"/>
                <a:cs typeface="Arial"/>
                <a:sym typeface="Arial"/>
              </a:rPr>
              <a:t>1</a:t>
            </a:fld>
            <a:endParaRPr sz="1200" b="0" i="0" u="none" strike="noStrike" cap="none">
              <a:solidFill>
                <a:schemeClr val="lt2"/>
              </a:solidFill>
              <a:latin typeface="Arial"/>
              <a:ea typeface="Arial"/>
              <a:cs typeface="Arial"/>
              <a:sym typeface="Arial"/>
            </a:endParaRPr>
          </a:p>
        </p:txBody>
      </p:sp>
      <p:sp>
        <p:nvSpPr>
          <p:cNvPr id="67" name="Google Shape;67;p1"/>
          <p:cNvSpPr/>
          <p:nvPr/>
        </p:nvSpPr>
        <p:spPr>
          <a:xfrm>
            <a:off x="793229" y="4298511"/>
            <a:ext cx="6557868" cy="168042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Sinh </a:t>
            </a:r>
            <a:r>
              <a:rPr lang="en-US" sz="2400" b="1" i="0" u="none" strike="noStrike" cap="none" dirty="0" err="1">
                <a:solidFill>
                  <a:schemeClr val="dk1"/>
                </a:solidFill>
                <a:latin typeface="Times New Roman"/>
                <a:ea typeface="Times New Roman"/>
                <a:cs typeface="Times New Roman"/>
                <a:sym typeface="Times New Roman"/>
              </a:rPr>
              <a:t>viên</a:t>
            </a:r>
            <a:r>
              <a:rPr lang="en-US" sz="2400" b="1" i="0" u="none" strike="noStrike" cap="none" dirty="0">
                <a:solidFill>
                  <a:schemeClr val="dk1"/>
                </a:solidFill>
                <a:latin typeface="Times New Roman"/>
                <a:ea typeface="Times New Roman"/>
                <a:cs typeface="Times New Roman"/>
                <a:sym typeface="Times New Roman"/>
              </a:rPr>
              <a:t> </a:t>
            </a:r>
            <a:r>
              <a:rPr lang="en-US" sz="2400" b="1" i="0" u="none" strike="noStrike" cap="none" dirty="0" err="1">
                <a:solidFill>
                  <a:schemeClr val="dk1"/>
                </a:solidFill>
                <a:latin typeface="Times New Roman"/>
                <a:ea typeface="Times New Roman"/>
                <a:cs typeface="Times New Roman"/>
                <a:sym typeface="Times New Roman"/>
              </a:rPr>
              <a:t>thực</a:t>
            </a:r>
            <a:r>
              <a:rPr lang="en-US" sz="2400" b="1" i="0" u="none" strike="noStrike" cap="none" dirty="0">
                <a:solidFill>
                  <a:schemeClr val="dk1"/>
                </a:solidFill>
                <a:latin typeface="Times New Roman"/>
                <a:ea typeface="Times New Roman"/>
                <a:cs typeface="Times New Roman"/>
                <a:sym typeface="Times New Roman"/>
              </a:rPr>
              <a:t> </a:t>
            </a:r>
            <a:r>
              <a:rPr lang="en-US" sz="2400" b="1" i="0" u="none" strike="noStrike" cap="none" dirty="0" err="1">
                <a:solidFill>
                  <a:schemeClr val="dk1"/>
                </a:solidFill>
                <a:latin typeface="Times New Roman"/>
                <a:ea typeface="Times New Roman"/>
                <a:cs typeface="Times New Roman"/>
                <a:sym typeface="Times New Roman"/>
              </a:rPr>
              <a:t>hiện</a:t>
            </a:r>
            <a:r>
              <a:rPr lang="en-US" sz="2400" b="1" i="0" u="none" strike="noStrike" cap="none" dirty="0">
                <a:solidFill>
                  <a:schemeClr val="dk1"/>
                </a:solidFill>
                <a:latin typeface="Times New Roman"/>
                <a:ea typeface="Times New Roman"/>
                <a:cs typeface="Times New Roman"/>
                <a:sym typeface="Times New Roman"/>
              </a:rPr>
              <a:t>:</a:t>
            </a:r>
          </a:p>
          <a:p>
            <a:pPr marL="0" marR="0" lvl="0" indent="0" algn="l" rtl="0">
              <a:lnSpc>
                <a:spcPct val="120000"/>
              </a:lnSpc>
              <a:spcBef>
                <a:spcPts val="0"/>
              </a:spcBef>
              <a:spcAft>
                <a:spcPts val="0"/>
              </a:spcAft>
              <a:buNone/>
            </a:pPr>
            <a:endParaRPr lang="en-US" dirty="0">
              <a:ea typeface="Times New Roman"/>
            </a:endParaRPr>
          </a:p>
          <a:p>
            <a:pPr marL="0" marR="0" lvl="0" indent="0" algn="l" rtl="0">
              <a:lnSpc>
                <a:spcPct val="120000"/>
              </a:lnSpc>
              <a:spcBef>
                <a:spcPts val="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Nguyễn </a:t>
            </a:r>
            <a:r>
              <a:rPr lang="en-US" sz="2400" dirty="0">
                <a:solidFill>
                  <a:schemeClr val="dk1"/>
                </a:solidFill>
                <a:latin typeface="Times New Roman"/>
                <a:ea typeface="Times New Roman"/>
                <a:cs typeface="Times New Roman"/>
                <a:sym typeface="Times New Roman"/>
              </a:rPr>
              <a:t>Thanh Duy</a:t>
            </a:r>
            <a:r>
              <a:rPr lang="en-US" sz="2400" b="0" i="0" u="none" strike="noStrike" cap="none" dirty="0">
                <a:solidFill>
                  <a:schemeClr val="dk1"/>
                </a:solidFill>
                <a:latin typeface="Times New Roman"/>
                <a:ea typeface="Times New Roman"/>
                <a:cs typeface="Times New Roman"/>
                <a:sym typeface="Times New Roman"/>
              </a:rPr>
              <a:t>	MSSV</a:t>
            </a:r>
            <a:r>
              <a:rPr lang="en-US" sz="2400" dirty="0">
                <a:solidFill>
                  <a:schemeClr val="dk1"/>
                </a:solidFill>
                <a:latin typeface="Times New Roman"/>
                <a:ea typeface="Times New Roman"/>
                <a:cs typeface="Times New Roman"/>
                <a:sym typeface="Times New Roman"/>
              </a:rPr>
              <a:t>: 2224801030170</a:t>
            </a:r>
            <a:endParaRPr lang="vi-VN" sz="2400" dirty="0">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None/>
            </a:pPr>
            <a:r>
              <a:rPr lang="vi-VN" sz="2400" dirty="0">
                <a:solidFill>
                  <a:schemeClr val="dk1"/>
                </a:solidFill>
                <a:latin typeface="Times New Roman"/>
                <a:ea typeface="Times New Roman"/>
                <a:cs typeface="Times New Roman"/>
                <a:sym typeface="Times New Roman"/>
              </a:rPr>
              <a:t>Nguyễn Hứu Nhựt      MSSV: 2224801030274</a:t>
            </a:r>
          </a:p>
        </p:txBody>
      </p:sp>
      <p:sp>
        <p:nvSpPr>
          <p:cNvPr id="68" name="Google Shape;68;p1"/>
          <p:cNvSpPr/>
          <p:nvPr/>
        </p:nvSpPr>
        <p:spPr>
          <a:xfrm>
            <a:off x="0" y="2406028"/>
            <a:ext cx="12192000" cy="13233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dirty="0" err="1">
                <a:solidFill>
                  <a:srgbClr val="FF3300"/>
                </a:solidFill>
                <a:latin typeface="Times New Roman" panose="02020603050405020304" pitchFamily="18" charset="0"/>
                <a:ea typeface="Calibri"/>
                <a:cs typeface="Times New Roman" panose="02020603050405020304" pitchFamily="18" charset="0"/>
                <a:sym typeface="Calibri"/>
              </a:rPr>
              <a:t>Đề</a:t>
            </a:r>
            <a:r>
              <a:rPr lang="en-US" sz="4400" b="1" i="0" u="none" strike="noStrike" cap="none" dirty="0">
                <a:solidFill>
                  <a:srgbClr val="FF3300"/>
                </a:solidFill>
                <a:latin typeface="Times New Roman" panose="02020603050405020304" pitchFamily="18" charset="0"/>
                <a:ea typeface="Calibri"/>
                <a:cs typeface="Times New Roman" panose="02020603050405020304" pitchFamily="18" charset="0"/>
                <a:sym typeface="Calibri"/>
              </a:rPr>
              <a:t> </a:t>
            </a:r>
            <a:r>
              <a:rPr lang="en-US" sz="4400" b="1" i="0" u="none" strike="noStrike" cap="none" dirty="0" err="1">
                <a:solidFill>
                  <a:srgbClr val="FF3300"/>
                </a:solidFill>
                <a:latin typeface="Times New Roman" panose="02020603050405020304" pitchFamily="18" charset="0"/>
                <a:ea typeface="Calibri"/>
                <a:cs typeface="Times New Roman" panose="02020603050405020304" pitchFamily="18" charset="0"/>
                <a:sym typeface="Calibri"/>
              </a:rPr>
              <a:t>tài</a:t>
            </a:r>
            <a:r>
              <a:rPr lang="en-US" sz="4400" b="1" i="0" u="none" strike="noStrike" cap="none" dirty="0">
                <a:solidFill>
                  <a:srgbClr val="FF3300"/>
                </a:solidFill>
                <a:latin typeface="Times New Roman" panose="02020603050405020304" pitchFamily="18" charset="0"/>
                <a:ea typeface="Calibri"/>
                <a:cs typeface="Times New Roman" panose="02020603050405020304" pitchFamily="18" charset="0"/>
                <a:sym typeface="Calibri"/>
              </a:rPr>
              <a:t>:</a:t>
            </a:r>
            <a:r>
              <a:rPr lang="en-US" sz="4400" b="1" dirty="0">
                <a:solidFill>
                  <a:srgbClr val="FF3300"/>
                </a:solidFill>
                <a:latin typeface="Times New Roman" panose="02020603050405020304" pitchFamily="18" charset="0"/>
                <a:ea typeface="Calibri"/>
                <a:cs typeface="Times New Roman" panose="02020603050405020304" pitchFamily="18" charset="0"/>
                <a:sym typeface="Calibri"/>
              </a:rPr>
              <a:t> </a:t>
            </a:r>
            <a:r>
              <a:rPr lang="en-US" sz="3600" b="1" dirty="0">
                <a:solidFill>
                  <a:srgbClr val="FF3300"/>
                </a:solidFill>
                <a:latin typeface="Times New Roman" panose="02020603050405020304" pitchFamily="18" charset="0"/>
                <a:ea typeface="Calibri"/>
                <a:cs typeface="Times New Roman" panose="02020603050405020304" pitchFamily="18" charset="0"/>
                <a:sym typeface="Calibri"/>
              </a:rPr>
              <a:t>XÂY DỰNG ỨNG DỤNG ĐA NỀN TẢNG TÍNH CHỈ SỐ BMI PHỤC VỤ THEO DÕI SỨC KHỎE CÁ NHÂN</a:t>
            </a:r>
            <a:endParaRPr lang="en-US" sz="3600" b="1" i="0" u="none" strike="noStrike" cap="none" dirty="0">
              <a:solidFill>
                <a:srgbClr val="FF33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3"/>
          <p:cNvSpPr txBox="1">
            <a:spLocks noGrp="1"/>
          </p:cNvSpPr>
          <p:nvPr>
            <p:ph type="body" idx="1"/>
          </p:nvPr>
        </p:nvSpPr>
        <p:spPr>
          <a:xfrm>
            <a:off x="457200" y="1295401"/>
            <a:ext cx="11353800" cy="5181600"/>
          </a:xfrm>
          <a:prstGeom prst="rect">
            <a:avLst/>
          </a:prstGeom>
          <a:noFill/>
          <a:ln>
            <a:noFill/>
          </a:ln>
        </p:spPr>
        <p:txBody>
          <a:bodyPr spcFirstLastPara="1" wrap="square" lIns="91425" tIns="45700" rIns="91425" bIns="45700" anchor="t" anchorCtr="0">
            <a:noAutofit/>
          </a:bodyPr>
          <a:lstStyle/>
          <a:p>
            <a:pPr marL="228600" indent="0"/>
            <a:r>
              <a:rPr lang="vi-VN" sz="2800" dirty="0">
                <a:solidFill>
                  <a:schemeClr val="tx1"/>
                </a:solidFill>
              </a:rPr>
              <a:t>"Trong bối cảnh các bệnh lý về cân nặng như béo phì, tiểu đường ngày càng gia tăng, việc theo dõi chỉ số BMI là phương pháp tối ưu được WHO khuyến nghị. Tuy nhiên, việc tính toán và ghi chép thủ công gây nhiều bất tiện cho người dùng trong việc theo dõi lâu dài. Xuất phát từ thực tế đó, đề tài tập trung xây dựng ứng dụng di động đa nền tảng, giúp người dùng tính toán nhanh chóng, lưu trữ lịch sử và theo dõi lộ trình sức khỏe cá nhân một cách khoa học, tiện lợi mọi lúc mọi nơi."</a:t>
            </a:r>
          </a:p>
        </p:txBody>
      </p:sp>
      <p:sp>
        <p:nvSpPr>
          <p:cNvPr id="81" name="Google Shape;81;p3"/>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2</a:t>
            </a:fld>
            <a:endParaRPr/>
          </a:p>
        </p:txBody>
      </p:sp>
      <p:sp>
        <p:nvSpPr>
          <p:cNvPr id="82" name="Google Shape;82;p3"/>
          <p:cNvSpPr txBox="1">
            <a:spLocks noGrp="1"/>
          </p:cNvSpPr>
          <p:nvPr>
            <p:ph type="title"/>
          </p:nvPr>
        </p:nvSpPr>
        <p:spPr>
          <a:xfrm>
            <a:off x="457200" y="136519"/>
            <a:ext cx="11277600" cy="85408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0000"/>
              </a:buClr>
              <a:buSzPts val="3200"/>
              <a:buFont typeface="Times New Roman"/>
              <a:buNone/>
            </a:pPr>
            <a:r>
              <a:rPr lang="en-US" dirty="0" err="1"/>
              <a:t>Đặt</a:t>
            </a:r>
            <a:r>
              <a:rPr lang="en-US" dirty="0"/>
              <a:t> </a:t>
            </a:r>
            <a:r>
              <a:rPr lang="en-US" dirty="0" err="1"/>
              <a:t>vấn</a:t>
            </a:r>
            <a:r>
              <a:rPr lang="en-US" dirty="0"/>
              <a:t> </a:t>
            </a:r>
            <a:r>
              <a:rPr lang="en-US" dirty="0" err="1"/>
              <a:t>đề</a:t>
            </a:r>
            <a:r>
              <a:rPr lang="en-US" dirty="0"/>
              <a:t>:</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CE6685E9-8135-8565-1BF2-0D07941C5735}"/>
            </a:ext>
          </a:extLst>
        </p:cNvPr>
        <p:cNvGrpSpPr/>
        <p:nvPr/>
      </p:nvGrpSpPr>
      <p:grpSpPr>
        <a:xfrm>
          <a:off x="0" y="0"/>
          <a:ext cx="0" cy="0"/>
          <a:chOff x="0" y="0"/>
          <a:chExt cx="0" cy="0"/>
        </a:xfrm>
      </p:grpSpPr>
      <p:sp>
        <p:nvSpPr>
          <p:cNvPr id="80" name="Google Shape;80;p3">
            <a:extLst>
              <a:ext uri="{FF2B5EF4-FFF2-40B4-BE49-F238E27FC236}">
                <a16:creationId xmlns:a16="http://schemas.microsoft.com/office/drawing/2014/main" id="{265F2708-9E34-48D8-3203-46F8B16664B4}"/>
              </a:ext>
            </a:extLst>
          </p:cNvPr>
          <p:cNvSpPr txBox="1">
            <a:spLocks noGrp="1"/>
          </p:cNvSpPr>
          <p:nvPr>
            <p:ph type="body" idx="1"/>
          </p:nvPr>
        </p:nvSpPr>
        <p:spPr>
          <a:xfrm>
            <a:off x="228599" y="1082678"/>
            <a:ext cx="11766755" cy="5273678"/>
          </a:xfrm>
          <a:prstGeom prst="rect">
            <a:avLst/>
          </a:prstGeom>
          <a:noFill/>
          <a:ln>
            <a:noFill/>
          </a:ln>
        </p:spPr>
        <p:txBody>
          <a:bodyPr spcFirstLastPara="1" wrap="square" lIns="91425" tIns="45700" rIns="91425" bIns="45700" anchor="t" anchorCtr="0">
            <a:noAutofit/>
          </a:bodyPr>
          <a:lstStyle/>
          <a:p>
            <a:pPr marL="0" marR="0" lvl="0" indent="0" algn="just" rtl="0">
              <a:lnSpc>
                <a:spcPct val="120000"/>
              </a:lnSpc>
              <a:spcBef>
                <a:spcPts val="0"/>
              </a:spcBef>
              <a:spcAft>
                <a:spcPts val="0"/>
              </a:spcAft>
              <a:buClr>
                <a:srgbClr val="0000FF"/>
              </a:buClr>
              <a:buSzPts val="2400"/>
              <a:buFont typeface="Noto Sans Symbols"/>
              <a:buNone/>
            </a:pPr>
            <a:r>
              <a:rPr lang="en-US"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Mục tiêu chính</a:t>
            </a:r>
            <a:r>
              <a:rPr lang="en-US"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lvl="0" indent="0" algn="just" rtl="0">
              <a:lnSpc>
                <a:spcPct val="120000"/>
              </a:lnSpc>
              <a:spcBef>
                <a:spcPts val="0"/>
              </a:spcBef>
              <a:spcAft>
                <a:spcPts val="0"/>
              </a:spcAft>
              <a:buClr>
                <a:srgbClr val="0000FF"/>
              </a:buClr>
              <a:buSzPts val="2400"/>
              <a:buFont typeface="Noto Sans Symbols"/>
              <a:buNone/>
            </a:pPr>
            <a:r>
              <a:rPr lang="vi-VN"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Xây dựng ứng dụng đa nền tảng: Phát triển thành công ứng dụng chạy mượt mà trên Android/iOS bằng Flutter &amp; Dart.</a:t>
            </a:r>
          </a:p>
          <a:p>
            <a:pPr marL="0" marR="0" lvl="0" indent="0" algn="just" rtl="0">
              <a:lnSpc>
                <a:spcPct val="120000"/>
              </a:lnSpc>
              <a:spcBef>
                <a:spcPts val="0"/>
              </a:spcBef>
              <a:spcAft>
                <a:spcPts val="0"/>
              </a:spcAft>
              <a:buClr>
                <a:srgbClr val="0000FF"/>
              </a:buClr>
              <a:buSzPts val="2400"/>
              <a:buFont typeface="Noto Sans Symbols"/>
              <a:buNone/>
            </a:pPr>
            <a:r>
              <a:rPr lang="vi-VN"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Hỗ trợ theo dõi sức khỏe: Cung cấp công cụ tính toán BMI chuẩn WHO và lưu trữ lịch sử cân nặng theo thời gian thực (Firebase Cloud).</a:t>
            </a:r>
          </a:p>
          <a:p>
            <a:pPr marL="0" marR="0" lvl="0" indent="0" algn="just" rtl="0">
              <a:lnSpc>
                <a:spcPct val="120000"/>
              </a:lnSpc>
              <a:spcBef>
                <a:spcPts val="0"/>
              </a:spcBef>
              <a:spcAft>
                <a:spcPts val="0"/>
              </a:spcAft>
              <a:buClr>
                <a:srgbClr val="0000FF"/>
              </a:buClr>
              <a:buSzPts val="2400"/>
              <a:buFont typeface="Noto Sans Symbols"/>
              <a:buNone/>
            </a:pPr>
            <a:r>
              <a:rPr lang="vi-VN"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Tích hợp công nghệ cao: Ứng dụng AI để gợi ý thực đơn.</a:t>
            </a:r>
            <a:endParaRPr lang="en-US"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rtl="0">
              <a:lnSpc>
                <a:spcPct val="120000"/>
              </a:lnSpc>
              <a:spcBef>
                <a:spcPts val="0"/>
              </a:spcBef>
              <a:spcAft>
                <a:spcPts val="0"/>
              </a:spcAft>
              <a:buClr>
                <a:srgbClr val="0000FF"/>
              </a:buClr>
              <a:buSzPts val="2400"/>
              <a:buFont typeface="Noto Sans Symbols"/>
              <a:buNone/>
            </a:pPr>
            <a:r>
              <a:rPr lang="en-US"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Chức</a:t>
            </a:r>
            <a:r>
              <a:rPr lang="en-US"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năng</a:t>
            </a:r>
            <a:r>
              <a:rPr lang="en-US"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chính</a:t>
            </a:r>
            <a:r>
              <a:rPr lang="en-US"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website:</a:t>
            </a:r>
          </a:p>
          <a:p>
            <a:pPr marL="0" lvl="0" indent="0" algn="l" eaLnBrk="0" fontAlgn="base" hangingPunct="0">
              <a:lnSpc>
                <a:spcPct val="100000"/>
              </a:lnSpc>
              <a:spcBef>
                <a:spcPct val="0"/>
              </a:spcBef>
              <a:spcAft>
                <a:spcPct val="0"/>
              </a:spcAft>
              <a:buClrTx/>
              <a:buSzTx/>
            </a:pPr>
            <a:r>
              <a:rPr lang="vi-VN" altLang="en-US" dirty="0">
                <a:solidFill>
                  <a:schemeClr val="tx1"/>
                </a:solidFill>
                <a:latin typeface="Times New Roman" panose="02020603050405020304" pitchFamily="18" charset="0"/>
                <a:cs typeface="Times New Roman" panose="02020603050405020304" pitchFamily="18" charset="0"/>
              </a:rPr>
              <a:t>Quản lý người dùng: Đăng ký, đăng nhập bảo mật và đồng bộ hồ sơ qua Firebase Authentication. </a:t>
            </a:r>
          </a:p>
          <a:p>
            <a:pPr marL="0" lvl="0" indent="0" algn="l" eaLnBrk="0" fontAlgn="base" hangingPunct="0">
              <a:lnSpc>
                <a:spcPct val="100000"/>
              </a:lnSpc>
              <a:spcBef>
                <a:spcPct val="0"/>
              </a:spcBef>
              <a:spcAft>
                <a:spcPct val="0"/>
              </a:spcAft>
              <a:buClrTx/>
              <a:buSzTx/>
            </a:pPr>
            <a:r>
              <a:rPr lang="vi-VN" altLang="en-US" dirty="0">
                <a:solidFill>
                  <a:schemeClr val="tx1"/>
                </a:solidFill>
                <a:latin typeface="Times New Roman" panose="02020603050405020304" pitchFamily="18" charset="0"/>
                <a:cs typeface="Times New Roman" panose="02020603050405020304" pitchFamily="18" charset="0"/>
              </a:rPr>
              <a:t>Theo dõi BMI: Tính toán chỉ số, đưa ra đánh giá thể trạng (Gầy/Béo phì) và lưu biểu đồ lịch sử.</a:t>
            </a:r>
            <a:br>
              <a:rPr lang="vi-VN" altLang="en-US" dirty="0">
                <a:solidFill>
                  <a:schemeClr val="tx1"/>
                </a:solidFill>
                <a:latin typeface="Times New Roman" panose="02020603050405020304" pitchFamily="18" charset="0"/>
                <a:cs typeface="Times New Roman" panose="02020603050405020304" pitchFamily="18" charset="0"/>
              </a:rPr>
            </a:br>
            <a:r>
              <a:rPr lang="vi-VN" altLang="en-US" dirty="0">
                <a:solidFill>
                  <a:schemeClr val="tx1"/>
                </a:solidFill>
                <a:latin typeface="Times New Roman" panose="02020603050405020304" pitchFamily="18" charset="0"/>
                <a:cs typeface="Times New Roman" panose="02020603050405020304" pitchFamily="18" charset="0"/>
              </a:rPr>
              <a:t>AI Gợi ý thực đơn (Smart Meal Plan): Dựa trên chỉ số BMI và mục tiêu (tăng/giảm cân), AI sẽ tự động đề xuất thực đơn chi tiết (Sáng/Trưa/Tối) đảm bảo dinh dưỡng khoa học.	</a:t>
            </a:r>
            <a:endParaRPr lang="en-US" altLang="en-US" dirty="0">
              <a:solidFill>
                <a:schemeClr val="tx1"/>
              </a:solidFill>
              <a:latin typeface="Times New Roman" panose="02020603050405020304" pitchFamily="18" charset="0"/>
              <a:cs typeface="Times New Roman" panose="02020603050405020304" pitchFamily="18" charset="0"/>
            </a:endParaRPr>
          </a:p>
          <a:p>
            <a:pPr marL="0" marR="0" lvl="0" indent="0" algn="just" rtl="0">
              <a:lnSpc>
                <a:spcPct val="120000"/>
              </a:lnSpc>
              <a:spcBef>
                <a:spcPts val="0"/>
              </a:spcBef>
              <a:spcAft>
                <a:spcPts val="0"/>
              </a:spcAft>
              <a:buClr>
                <a:srgbClr val="0000FF"/>
              </a:buClr>
              <a:buSzPts val="2400"/>
              <a:buFont typeface="Noto Sans Symbols"/>
              <a:buNone/>
            </a:pPr>
            <a:endParaRPr lang="en-US"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1" name="Google Shape;81;p3">
            <a:extLst>
              <a:ext uri="{FF2B5EF4-FFF2-40B4-BE49-F238E27FC236}">
                <a16:creationId xmlns:a16="http://schemas.microsoft.com/office/drawing/2014/main" id="{334B6D4F-9226-635C-81D4-C08E155390A2}"/>
              </a:ext>
            </a:extLst>
          </p:cNvPr>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3</a:t>
            </a:fld>
            <a:endParaRPr dirty="0"/>
          </a:p>
        </p:txBody>
      </p:sp>
      <p:sp>
        <p:nvSpPr>
          <p:cNvPr id="82" name="Google Shape;82;p3">
            <a:extLst>
              <a:ext uri="{FF2B5EF4-FFF2-40B4-BE49-F238E27FC236}">
                <a16:creationId xmlns:a16="http://schemas.microsoft.com/office/drawing/2014/main" id="{DAF99DBE-AB30-FD35-691F-55D6B8790066}"/>
              </a:ext>
            </a:extLst>
          </p:cNvPr>
          <p:cNvSpPr txBox="1">
            <a:spLocks noGrp="1"/>
          </p:cNvSpPr>
          <p:nvPr>
            <p:ph type="title"/>
          </p:nvPr>
        </p:nvSpPr>
        <p:spPr>
          <a:xfrm>
            <a:off x="457200" y="136519"/>
            <a:ext cx="11277600" cy="85408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0000"/>
              </a:buClr>
              <a:buSzPts val="3200"/>
              <a:buFont typeface="Times New Roman"/>
              <a:buNone/>
            </a:pPr>
            <a:r>
              <a:rPr lang="en-US" dirty="0" err="1"/>
              <a:t>Mô</a:t>
            </a:r>
            <a:r>
              <a:rPr lang="en-US" dirty="0"/>
              <a:t> </a:t>
            </a:r>
            <a:r>
              <a:rPr lang="en-US" dirty="0" err="1"/>
              <a:t>Tả</a:t>
            </a:r>
            <a:r>
              <a:rPr lang="en-US" dirty="0"/>
              <a:t>:</a:t>
            </a:r>
            <a:endParaRPr dirty="0"/>
          </a:p>
        </p:txBody>
      </p:sp>
    </p:spTree>
    <p:extLst>
      <p:ext uri="{BB962C8B-B14F-4D97-AF65-F5344CB8AC3E}">
        <p14:creationId xmlns:p14="http://schemas.microsoft.com/office/powerpoint/2010/main" val="1602313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Google Shape;74;p2"/>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75" name="Google Shape;75;p2"/>
          <p:cNvSpPr txBox="1">
            <a:spLocks noGrp="1"/>
          </p:cNvSpPr>
          <p:nvPr>
            <p:ph type="title"/>
          </p:nvPr>
        </p:nvSpPr>
        <p:spPr>
          <a:xfrm>
            <a:off x="457200" y="136519"/>
            <a:ext cx="11277600" cy="85408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0000"/>
              </a:buClr>
              <a:buSzPts val="3200"/>
              <a:buFont typeface="Times New Roman"/>
              <a:buNone/>
            </a:pPr>
            <a:r>
              <a:rPr lang="en-US" dirty="0" err="1"/>
              <a:t>Các</a:t>
            </a:r>
            <a:r>
              <a:rPr lang="en-US" dirty="0"/>
              <a:t> </a:t>
            </a:r>
            <a:r>
              <a:rPr lang="en-US" dirty="0" err="1"/>
              <a:t>công</a:t>
            </a:r>
            <a:r>
              <a:rPr lang="en-US" dirty="0"/>
              <a:t> </a:t>
            </a:r>
            <a:r>
              <a:rPr lang="en-US" dirty="0" err="1"/>
              <a:t>nghệ</a:t>
            </a:r>
            <a:r>
              <a:rPr lang="en-US" dirty="0"/>
              <a:t> </a:t>
            </a:r>
            <a:r>
              <a:rPr lang="en-US" dirty="0" err="1"/>
              <a:t>sử</a:t>
            </a:r>
            <a:r>
              <a:rPr lang="en-US" dirty="0"/>
              <a:t> </a:t>
            </a:r>
            <a:r>
              <a:rPr lang="en-US" dirty="0" err="1"/>
              <a:t>dụng</a:t>
            </a:r>
            <a:r>
              <a:rPr lang="en-US" dirty="0"/>
              <a:t>:</a:t>
            </a:r>
            <a:endParaRPr dirty="0"/>
          </a:p>
        </p:txBody>
      </p:sp>
      <p:sp>
        <p:nvSpPr>
          <p:cNvPr id="7" name="TextBox 6">
            <a:extLst>
              <a:ext uri="{FF2B5EF4-FFF2-40B4-BE49-F238E27FC236}">
                <a16:creationId xmlns:a16="http://schemas.microsoft.com/office/drawing/2014/main" id="{BE630EB8-781E-16C5-520F-07BCFE7387BD}"/>
              </a:ext>
            </a:extLst>
          </p:cNvPr>
          <p:cNvSpPr txBox="1"/>
          <p:nvPr/>
        </p:nvSpPr>
        <p:spPr>
          <a:xfrm>
            <a:off x="1295379" y="4909734"/>
            <a:ext cx="2729875" cy="461665"/>
          </a:xfrm>
          <a:prstGeom prst="rect">
            <a:avLst/>
          </a:prstGeom>
          <a:noFill/>
        </p:spPr>
        <p:txBody>
          <a:bodyPr wrap="square" rtlCol="0">
            <a:spAutoFit/>
          </a:bodyPr>
          <a:lstStyle/>
          <a:p>
            <a:r>
              <a:rPr lang="en-US" sz="2400" dirty="0"/>
              <a:t>Android Studio</a:t>
            </a:r>
          </a:p>
        </p:txBody>
      </p:sp>
      <p:sp>
        <p:nvSpPr>
          <p:cNvPr id="9" name="TextBox 8">
            <a:extLst>
              <a:ext uri="{FF2B5EF4-FFF2-40B4-BE49-F238E27FC236}">
                <a16:creationId xmlns:a16="http://schemas.microsoft.com/office/drawing/2014/main" id="{938BE636-9CD7-BBCB-14A4-8C6309C0978A}"/>
              </a:ext>
            </a:extLst>
          </p:cNvPr>
          <p:cNvSpPr txBox="1"/>
          <p:nvPr/>
        </p:nvSpPr>
        <p:spPr>
          <a:xfrm>
            <a:off x="5473446" y="4903339"/>
            <a:ext cx="1625446" cy="461665"/>
          </a:xfrm>
          <a:prstGeom prst="rect">
            <a:avLst/>
          </a:prstGeom>
          <a:noFill/>
        </p:spPr>
        <p:txBody>
          <a:bodyPr wrap="square" rtlCol="0">
            <a:spAutoFit/>
          </a:bodyPr>
          <a:lstStyle/>
          <a:p>
            <a:r>
              <a:rPr lang="en-US" sz="2400" dirty="0" err="1"/>
              <a:t>FireBase</a:t>
            </a:r>
            <a:endParaRPr lang="en-US" sz="2400" dirty="0"/>
          </a:p>
        </p:txBody>
      </p:sp>
      <p:sp>
        <p:nvSpPr>
          <p:cNvPr id="8" name="TextBox 7">
            <a:extLst>
              <a:ext uri="{FF2B5EF4-FFF2-40B4-BE49-F238E27FC236}">
                <a16:creationId xmlns:a16="http://schemas.microsoft.com/office/drawing/2014/main" id="{688B2480-71AF-E221-59DE-47BF2326C1FD}"/>
              </a:ext>
            </a:extLst>
          </p:cNvPr>
          <p:cNvSpPr txBox="1"/>
          <p:nvPr/>
        </p:nvSpPr>
        <p:spPr>
          <a:xfrm>
            <a:off x="8737600" y="4876828"/>
            <a:ext cx="3629286" cy="461665"/>
          </a:xfrm>
          <a:prstGeom prst="rect">
            <a:avLst/>
          </a:prstGeom>
          <a:noFill/>
        </p:spPr>
        <p:txBody>
          <a:bodyPr wrap="square" rtlCol="0">
            <a:spAutoFit/>
          </a:bodyPr>
          <a:lstStyle/>
          <a:p>
            <a:pPr algn="ctr"/>
            <a:r>
              <a:rPr lang="en-US" sz="2400" dirty="0"/>
              <a:t>Flutter</a:t>
            </a:r>
            <a:r>
              <a:rPr lang="vi-VN" sz="2400" dirty="0"/>
              <a:t> &amp; Dart</a:t>
            </a:r>
            <a:endParaRPr lang="en-US" sz="2400" dirty="0"/>
          </a:p>
        </p:txBody>
      </p:sp>
      <p:pic>
        <p:nvPicPr>
          <p:cNvPr id="10" name="Picture 9" descr="IMG_256">
            <a:extLst>
              <a:ext uri="{FF2B5EF4-FFF2-40B4-BE49-F238E27FC236}">
                <a16:creationId xmlns:a16="http://schemas.microsoft.com/office/drawing/2014/main" id="{66549501-EADC-65A2-1B1C-86337AC1D225}"/>
              </a:ext>
            </a:extLst>
          </p:cNvPr>
          <p:cNvPicPr>
            <a:picLocks noChangeAspect="1"/>
          </p:cNvPicPr>
          <p:nvPr/>
        </p:nvPicPr>
        <p:blipFill>
          <a:blip r:embed="rId3"/>
          <a:stretch>
            <a:fillRect/>
          </a:stretch>
        </p:blipFill>
        <p:spPr>
          <a:xfrm>
            <a:off x="1295379" y="2002450"/>
            <a:ext cx="2325370" cy="2148840"/>
          </a:xfrm>
          <a:prstGeom prst="rect">
            <a:avLst/>
          </a:prstGeom>
          <a:noFill/>
          <a:ln w="9525">
            <a:noFill/>
          </a:ln>
        </p:spPr>
      </p:pic>
      <p:pic>
        <p:nvPicPr>
          <p:cNvPr id="11" name="Picture 10" descr="IMG_256">
            <a:extLst>
              <a:ext uri="{FF2B5EF4-FFF2-40B4-BE49-F238E27FC236}">
                <a16:creationId xmlns:a16="http://schemas.microsoft.com/office/drawing/2014/main" id="{701F82AD-66E5-6176-681B-C1B06C03FC96}"/>
              </a:ext>
            </a:extLst>
          </p:cNvPr>
          <p:cNvPicPr>
            <a:picLocks noChangeAspect="1"/>
          </p:cNvPicPr>
          <p:nvPr/>
        </p:nvPicPr>
        <p:blipFill>
          <a:blip r:embed="rId4"/>
          <a:stretch>
            <a:fillRect/>
          </a:stretch>
        </p:blipFill>
        <p:spPr>
          <a:xfrm>
            <a:off x="4739149" y="1933446"/>
            <a:ext cx="2928802" cy="2668052"/>
          </a:xfrm>
          <a:prstGeom prst="rect">
            <a:avLst/>
          </a:prstGeom>
          <a:noFill/>
          <a:ln w="9525">
            <a:noFill/>
          </a:ln>
        </p:spPr>
      </p:pic>
      <p:pic>
        <p:nvPicPr>
          <p:cNvPr id="12" name="Picture 11">
            <a:extLst>
              <a:ext uri="{FF2B5EF4-FFF2-40B4-BE49-F238E27FC236}">
                <a16:creationId xmlns:a16="http://schemas.microsoft.com/office/drawing/2014/main" id="{41F7C545-9611-6A47-0608-15CD326229B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786351" y="2500416"/>
            <a:ext cx="2931896" cy="185716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 grpId="0"/>
      <p:bldP spid="9"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D2F9AE52-98EC-EEBB-1EA7-5235D9E29CB1}"/>
            </a:ext>
          </a:extLst>
        </p:cNvPr>
        <p:cNvGrpSpPr/>
        <p:nvPr/>
      </p:nvGrpSpPr>
      <p:grpSpPr>
        <a:xfrm>
          <a:off x="0" y="0"/>
          <a:ext cx="0" cy="0"/>
          <a:chOff x="0" y="0"/>
          <a:chExt cx="0" cy="0"/>
        </a:xfrm>
      </p:grpSpPr>
      <p:sp>
        <p:nvSpPr>
          <p:cNvPr id="81" name="Google Shape;81;p3">
            <a:extLst>
              <a:ext uri="{FF2B5EF4-FFF2-40B4-BE49-F238E27FC236}">
                <a16:creationId xmlns:a16="http://schemas.microsoft.com/office/drawing/2014/main" id="{57AF6EAA-C29C-5102-C2AB-A35DE8C357FB}"/>
              </a:ext>
            </a:extLst>
          </p:cNvPr>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5</a:t>
            </a:fld>
            <a:endParaRPr/>
          </a:p>
        </p:txBody>
      </p:sp>
      <p:sp>
        <p:nvSpPr>
          <p:cNvPr id="82" name="Google Shape;82;p3">
            <a:extLst>
              <a:ext uri="{FF2B5EF4-FFF2-40B4-BE49-F238E27FC236}">
                <a16:creationId xmlns:a16="http://schemas.microsoft.com/office/drawing/2014/main" id="{45944AA3-432B-B563-A11C-61FB07A566CA}"/>
              </a:ext>
            </a:extLst>
          </p:cNvPr>
          <p:cNvSpPr txBox="1">
            <a:spLocks noGrp="1"/>
          </p:cNvSpPr>
          <p:nvPr>
            <p:ph type="title"/>
          </p:nvPr>
        </p:nvSpPr>
        <p:spPr>
          <a:xfrm>
            <a:off x="457200" y="136519"/>
            <a:ext cx="11277600" cy="85408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0000"/>
              </a:buClr>
              <a:buSzPts val="3200"/>
              <a:buFont typeface="Times New Roman"/>
              <a:buNone/>
            </a:pPr>
            <a:r>
              <a:rPr lang="en-US" dirty="0" err="1"/>
              <a:t>Phân</a:t>
            </a:r>
            <a:r>
              <a:rPr lang="en-US" dirty="0"/>
              <a:t> </a:t>
            </a:r>
            <a:r>
              <a:rPr lang="en-US" dirty="0" err="1"/>
              <a:t>rã</a:t>
            </a:r>
            <a:r>
              <a:rPr lang="en-US" dirty="0"/>
              <a:t> </a:t>
            </a:r>
            <a:r>
              <a:rPr lang="en-US" dirty="0" err="1"/>
              <a:t>chức</a:t>
            </a:r>
            <a:r>
              <a:rPr lang="en-US" dirty="0"/>
              <a:t> </a:t>
            </a:r>
            <a:r>
              <a:rPr lang="en-US" dirty="0" err="1"/>
              <a:t>năng</a:t>
            </a:r>
            <a:endParaRPr lang="en-US" dirty="0"/>
          </a:p>
        </p:txBody>
      </p:sp>
      <p:pic>
        <p:nvPicPr>
          <p:cNvPr id="3" name="Picture 2">
            <a:extLst>
              <a:ext uri="{FF2B5EF4-FFF2-40B4-BE49-F238E27FC236}">
                <a16:creationId xmlns:a16="http://schemas.microsoft.com/office/drawing/2014/main" id="{674E63CE-37ED-6B6A-3258-DFD70C32EE2F}"/>
              </a:ext>
            </a:extLst>
          </p:cNvPr>
          <p:cNvPicPr>
            <a:picLocks noChangeAspect="1"/>
          </p:cNvPicPr>
          <p:nvPr/>
        </p:nvPicPr>
        <p:blipFill>
          <a:blip r:embed="rId3"/>
          <a:stretch>
            <a:fillRect/>
          </a:stretch>
        </p:blipFill>
        <p:spPr>
          <a:xfrm>
            <a:off x="892380" y="1226191"/>
            <a:ext cx="10516289" cy="5130165"/>
          </a:xfrm>
          <a:prstGeom prst="rect">
            <a:avLst/>
          </a:prstGeom>
        </p:spPr>
      </p:pic>
    </p:spTree>
    <p:extLst>
      <p:ext uri="{BB962C8B-B14F-4D97-AF65-F5344CB8AC3E}">
        <p14:creationId xmlns:p14="http://schemas.microsoft.com/office/powerpoint/2010/main" val="756711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1" name="Google Shape;81;p3"/>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6</a:t>
            </a:fld>
            <a:endParaRPr/>
          </a:p>
        </p:txBody>
      </p:sp>
      <p:sp>
        <p:nvSpPr>
          <p:cNvPr id="82" name="Google Shape;82;p3"/>
          <p:cNvSpPr txBox="1">
            <a:spLocks noGrp="1"/>
          </p:cNvSpPr>
          <p:nvPr>
            <p:ph type="title"/>
          </p:nvPr>
        </p:nvSpPr>
        <p:spPr>
          <a:xfrm>
            <a:off x="457200" y="136519"/>
            <a:ext cx="11277600" cy="85408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0000"/>
              </a:buClr>
              <a:buSzPts val="3200"/>
              <a:buFont typeface="Times New Roman"/>
              <a:buNone/>
            </a:pPr>
            <a:r>
              <a:rPr lang="en-US" dirty="0" err="1"/>
              <a:t>Usecase</a:t>
            </a:r>
            <a:r>
              <a:rPr lang="en-US" dirty="0"/>
              <a:t> </a:t>
            </a:r>
            <a:r>
              <a:rPr lang="en-US" dirty="0" err="1"/>
              <a:t>tổng</a:t>
            </a:r>
            <a:r>
              <a:rPr lang="en-US" dirty="0"/>
              <a:t> </a:t>
            </a:r>
            <a:r>
              <a:rPr lang="en-US" dirty="0" err="1"/>
              <a:t>quát</a:t>
            </a:r>
            <a:endParaRPr dirty="0"/>
          </a:p>
        </p:txBody>
      </p:sp>
      <p:pic>
        <p:nvPicPr>
          <p:cNvPr id="4" name="Picture 3">
            <a:extLst>
              <a:ext uri="{FF2B5EF4-FFF2-40B4-BE49-F238E27FC236}">
                <a16:creationId xmlns:a16="http://schemas.microsoft.com/office/drawing/2014/main" id="{E0F17784-4853-3560-10E2-4452A4C4FCE9}"/>
              </a:ext>
            </a:extLst>
          </p:cNvPr>
          <p:cNvPicPr>
            <a:picLocks noChangeAspect="1"/>
          </p:cNvPicPr>
          <p:nvPr/>
        </p:nvPicPr>
        <p:blipFill>
          <a:blip r:embed="rId3"/>
          <a:stretch>
            <a:fillRect/>
          </a:stretch>
        </p:blipFill>
        <p:spPr>
          <a:xfrm>
            <a:off x="820994" y="1222950"/>
            <a:ext cx="9842090" cy="5133406"/>
          </a:xfrm>
          <a:prstGeom prst="rect">
            <a:avLst/>
          </a:prstGeom>
        </p:spPr>
      </p:pic>
    </p:spTree>
    <p:extLst>
      <p:ext uri="{BB962C8B-B14F-4D97-AF65-F5344CB8AC3E}">
        <p14:creationId xmlns:p14="http://schemas.microsoft.com/office/powerpoint/2010/main" val="233359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1" name="Google Shape;81;p3"/>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7</a:t>
            </a:fld>
            <a:endParaRPr dirty="0"/>
          </a:p>
        </p:txBody>
      </p:sp>
      <p:sp>
        <p:nvSpPr>
          <p:cNvPr id="82" name="Google Shape;82;p3"/>
          <p:cNvSpPr txBox="1">
            <a:spLocks noGrp="1"/>
          </p:cNvSpPr>
          <p:nvPr>
            <p:ph type="title"/>
          </p:nvPr>
        </p:nvSpPr>
        <p:spPr>
          <a:xfrm>
            <a:off x="457200" y="136519"/>
            <a:ext cx="11277600" cy="85408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0000"/>
              </a:buClr>
              <a:buSzPts val="3200"/>
              <a:buFont typeface="Times New Roman"/>
              <a:buNone/>
            </a:pPr>
            <a:r>
              <a:rPr lang="vi-VN" dirty="0"/>
              <a:t>Demo Sản Phẩm</a:t>
            </a:r>
            <a:endParaRPr dirty="0"/>
          </a:p>
        </p:txBody>
      </p:sp>
      <p:pic>
        <p:nvPicPr>
          <p:cNvPr id="5" name="Picture 4">
            <a:extLst>
              <a:ext uri="{FF2B5EF4-FFF2-40B4-BE49-F238E27FC236}">
                <a16:creationId xmlns:a16="http://schemas.microsoft.com/office/drawing/2014/main" id="{8C19D73C-FA4C-EE82-1B61-981C5A5C0689}"/>
              </a:ext>
            </a:extLst>
          </p:cNvPr>
          <p:cNvPicPr>
            <a:picLocks noChangeAspect="1"/>
          </p:cNvPicPr>
          <p:nvPr/>
        </p:nvPicPr>
        <p:blipFill>
          <a:blip r:embed="rId3"/>
          <a:stretch>
            <a:fillRect/>
          </a:stretch>
        </p:blipFill>
        <p:spPr>
          <a:xfrm>
            <a:off x="4412775" y="1277995"/>
            <a:ext cx="3116881" cy="5078361"/>
          </a:xfrm>
          <a:prstGeom prst="rect">
            <a:avLst/>
          </a:prstGeom>
        </p:spPr>
      </p:pic>
    </p:spTree>
    <p:extLst>
      <p:ext uri="{BB962C8B-B14F-4D97-AF65-F5344CB8AC3E}">
        <p14:creationId xmlns:p14="http://schemas.microsoft.com/office/powerpoint/2010/main" val="55928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
          <a:extLst>
            <a:ext uri="{FF2B5EF4-FFF2-40B4-BE49-F238E27FC236}">
              <a16:creationId xmlns:a16="http://schemas.microsoft.com/office/drawing/2014/main" id="{EDC720C1-E886-5020-ADE1-9F2F2F5D352C}"/>
            </a:ext>
          </a:extLst>
        </p:cNvPr>
        <p:cNvGrpSpPr/>
        <p:nvPr/>
      </p:nvGrpSpPr>
      <p:grpSpPr>
        <a:xfrm>
          <a:off x="0" y="0"/>
          <a:ext cx="0" cy="0"/>
          <a:chOff x="0" y="0"/>
          <a:chExt cx="0" cy="0"/>
        </a:xfrm>
      </p:grpSpPr>
      <p:sp>
        <p:nvSpPr>
          <p:cNvPr id="74" name="Google Shape;74;p2">
            <a:extLst>
              <a:ext uri="{FF2B5EF4-FFF2-40B4-BE49-F238E27FC236}">
                <a16:creationId xmlns:a16="http://schemas.microsoft.com/office/drawing/2014/main" id="{C0DD24AF-B6AE-36BB-AC62-D0FD6B48BF17}"/>
              </a:ext>
            </a:extLst>
          </p:cNvPr>
          <p:cNvSpPr txBox="1">
            <a:spLocks noGrp="1"/>
          </p:cNvSpPr>
          <p:nvPr>
            <p:ph type="sldNum" idx="12"/>
          </p:nvPr>
        </p:nvSpPr>
        <p:spPr>
          <a:xfrm>
            <a:off x="8737600" y="6356356"/>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028" name="Picture 4" descr="Rất Hay: Hình ảnh cảm ơn thầy cô đã lắng nghe để chèn vào Slide PowerPoint">
            <a:extLst>
              <a:ext uri="{FF2B5EF4-FFF2-40B4-BE49-F238E27FC236}">
                <a16:creationId xmlns:a16="http://schemas.microsoft.com/office/drawing/2014/main" id="{8DD89330-6215-C5B1-DE7B-C0132856F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29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TotalTime>
  <Words>397</Words>
  <Application>Microsoft Office PowerPoint</Application>
  <PresentationFormat>Widescreen</PresentationFormat>
  <Paragraphs>34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Noto Sans Symbols</vt:lpstr>
      <vt:lpstr>Times New Roman</vt:lpstr>
      <vt:lpstr>Office Theme</vt:lpstr>
      <vt:lpstr>PowerPoint Presentation</vt:lpstr>
      <vt:lpstr>Đặt vấn đề:</vt:lpstr>
      <vt:lpstr>Mô Tả:</vt:lpstr>
      <vt:lpstr>Các công nghệ sử dụng:</vt:lpstr>
      <vt:lpstr>Phân rã chức năng</vt:lpstr>
      <vt:lpstr>Usecase tổng quát</vt:lpstr>
      <vt:lpstr>Demo Sản Phẩm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MTN</dc:creator>
  <cp:lastModifiedBy>Nguyễn Thanh Duy</cp:lastModifiedBy>
  <cp:revision>40</cp:revision>
  <dcterms:created xsi:type="dcterms:W3CDTF">2018-09-01T09:00:51Z</dcterms:created>
  <dcterms:modified xsi:type="dcterms:W3CDTF">2025-12-26T08:41:48Z</dcterms:modified>
</cp:coreProperties>
</file>